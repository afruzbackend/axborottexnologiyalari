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13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0E7C7B"/>
                </a:solidFill>
                <a:latin typeface="Georgia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AXBOROT TEXNOLOGIYALARI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Matn va hujjatlarni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tahrirlash hamda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formatlash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Belgi (shrift) formatlash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abzats, ro‘yxat va uslublar bilan formatlash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Sahifani formatlash: hoshiya, sahifa raqami, kolontitul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0E7C7B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hujjat matnini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shrift, abzats, ro‘yxat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uslublar yordamida formatlash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hamda sahifa parametrlarini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sozlash ko‘nikmasini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tayyor matnni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talablarga mos formatlaydi: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sarlavhalarga uslub beradi,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ro‘yxat tuzadi, sahifa raqamini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qo‘yadi va avtomatik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mundarija yaratadi.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BELGI (SHRIFT)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Shrift parametrlari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Shrift rangini «Главная» → «Цвет шрифта» tugmasi, matn fonini esa «Цвет выделения текста»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(marker) tugmasi orqali o‘zgartirish mumkin. Rasmiy hujjatlarda faqat qora rang ishlatiladi.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87841"/>
                <a:gridCol w="1788109"/>
                <a:gridCol w="335270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Parametr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Tugmalar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Qalin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B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muhim so‘z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Kursiv (qiya)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atama yoki izoh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Tagiga chizilgan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U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havola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O‘lchamni kattalashtirish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]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sarlavha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O‘lchamni kichraytirish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Ctrl + [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1-REJA · BELGI (SHRIFT)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«Format bo‘yicha namuna» asbobi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«Формат по образцу» (cho‘tka belgisi) bitta matn bo‘lagi formatini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boshqasiga ko‘chiradi: avval namuna matnni ajrating, cho‘tkani bosing,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so‘ng formatlanadigan matnni ajrating.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ABZATS, RO‘YXAT VA USLUBLAR BILAN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Abzatsni formatlash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«Главная» → «Абзац» oynasida (kichik strelka) quyidagilar sozlanadi: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tekislash, chap va o‘ng chekinish, birinchi qator chekinishi (xatboshi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1,25 sm), abzatsdan oldin va keyingi oraliq, qatorlar oralig‘i (1,0; 1,15;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1,5).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77917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62940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Abzats: </a:t>
            </a:r>
            <a:r>
              <a:rPr sz="2600" b="0">
                <a:solidFill>
                  <a:srgbClr val="1B2A4A"/>
                </a:solidFill>
                <a:latin typeface="Segoe UI"/>
              </a:rPr>
              <a:t>Enter tugmasi bosilgunga qadar yozilgan matn bo‘lagi.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43481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4198366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Xatboshi: </a:t>
            </a:r>
            <a:r>
              <a:rPr sz="2600" b="0">
                <a:solidFill>
                  <a:srgbClr val="1B2A4A"/>
                </a:solidFill>
                <a:latin typeface="Segoe UI"/>
              </a:rPr>
              <a:t>abzats birinchi qatorining o‘ngga surilishi.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ABZATS, RO‘YXAT VA USLUBLAR BILAN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6343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200" b="0">
                <a:solidFill>
                  <a:srgbClr val="1B2A4A"/>
                </a:solidFill>
                <a:latin typeface="Segoe UI"/>
              </a:rPr>
              <a:t>Namunaviy matnni oching va butun matnni ajratib (Ctrl + A), Times New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Roman 14 pt, qatorlar oralig‘i 1,5 qiling.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625003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506726"/>
            <a:ext cx="10729862" cy="40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200" b="0">
                <a:solidFill>
                  <a:srgbClr val="1B2A4A"/>
                </a:solidFill>
                <a:latin typeface="Segoe UI"/>
              </a:rPr>
              <a:t>Barcha abzatslarga 1,25 sm xatboshi bering va ikki tomondan tekislang.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12893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010662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200" b="0">
                <a:solidFill>
                  <a:srgbClr val="1B2A4A"/>
                </a:solidFill>
                <a:latin typeface="Segoe UI"/>
              </a:rPr>
              <a:t>Asosiy sarlavhaga «Заголовок 1», kichik sarlavhalarga «Заголовок 2»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uslubini qo‘llang.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9050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72230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4.: </a:t>
            </a:r>
            <a:r>
              <a:rPr sz="2200" b="0">
                <a:solidFill>
                  <a:srgbClr val="1B2A4A"/>
                </a:solidFill>
                <a:latin typeface="Segoe UI"/>
              </a:rPr>
              <a:t>Sanab o‘tilgan qismni ajratib, «Маркеры» tugmasi bilan belgili ro‘yxatga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aylantiring.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852075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733798"/>
            <a:ext cx="10729862" cy="760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16"/>
              </a:lnSpc>
            </a:pPr>
            <a:r>
              <a:rPr sz="2200" b="1">
                <a:solidFill>
                  <a:srgbClr val="1B2A4A"/>
                </a:solidFill>
                <a:latin typeface="Segoe UI"/>
              </a:rPr>
              <a:t>Qadam 5.: </a:t>
            </a:r>
            <a:r>
              <a:rPr sz="2200" b="0">
                <a:solidFill>
                  <a:srgbClr val="1B2A4A"/>
                </a:solidFill>
                <a:latin typeface="Segoe UI"/>
              </a:rPr>
              <a:t>Ketma-ket bajariladigan bosqichlarni «Нумерация» tugmasi bilan</a:t>
            </a:r>
            <a:br/>
            <a:r>
              <a:rPr sz="2200" b="0">
                <a:solidFill>
                  <a:srgbClr val="1B2A4A"/>
                </a:solidFill>
                <a:latin typeface="Segoe UI"/>
              </a:rPr>
              <a:t>raqamli ro‘yxatga aylantiring.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2-REJA · AMALIY ISH: ABZATS, RO‘YXAT VA USLUBLAR BILAN FORMATLASH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Uslublar afzalligi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Uslub o‘zgartirilsa, u qo‘llangan barcha sarlavhalar bir zumda o‘zgaradi.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Bundan tashqari sarlavha uslublari asosida avtomatik mundarija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yaratiladi.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Uslub: </a:t>
            </a:r>
            <a:r>
              <a:rPr sz="2600" b="0">
                <a:solidFill>
                  <a:srgbClr val="1B2A4A"/>
                </a:solidFill>
                <a:latin typeface="Segoe UI"/>
              </a:rPr>
              <a:t>shrift va abzats parametrlarining nom bilan saqlangan to‘plami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(masalan, «Заголовок 1»).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SAHIFANI FORMATLASH: HOSHIYA, SAHIFA RAQAMI, KOLONTITUL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Sahifa parametrlari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406"/>
                <a:gridCol w="3755029"/>
                <a:gridCol w="5230219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Sozlama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Qayerda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Odatiy qiymat</a:t>
                      </a:r>
                    </a:p>
                  </a:txBody>
                  <a:tcPr marL="109728" marR="109728" marT="73152" marB="73152">
                    <a:solidFill>
                      <a:srgbClr val="0E7C7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Hoshiyalar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«Макет» → «Поля»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Chap 3, o‘ng 1,5, yuqori 2, pastki 2 sm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Yo‘nalish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«Макет» → «Ориентация»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Kitob (portret) yoki albom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O‘lcham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«Макет» → «Размер»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A4 (21×29,7 sm)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Sahifa raqami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«Вставка» → «Номер страницы»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Pastki qism, markazda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SAHIFANI FORMATLASH: HOSHIYA, SAHIFA RAQAMI, KOLONTITUL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Avtomatik mundarija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9493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468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1.: </a:t>
            </a:r>
            <a:r>
              <a:rPr sz="2600" b="0">
                <a:solidFill>
                  <a:srgbClr val="1B2A4A"/>
                </a:solidFill>
                <a:latin typeface="Segoe UI"/>
              </a:rPr>
              <a:t>Kursorni hujjat boshiga qo‘ying.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363891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214118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2.: </a:t>
            </a:r>
            <a:r>
              <a:rPr sz="2600" b="0">
                <a:solidFill>
                  <a:srgbClr val="1B2A4A"/>
                </a:solidFill>
                <a:latin typeface="Segoe UI"/>
              </a:rPr>
              <a:t>«Ссылки» → «Оглавление» → «Автособираемое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оглавление» ni tanlang.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355507"/>
            <a:ext cx="109901" cy="109901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205734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Qadam 3.: </a:t>
            </a:r>
            <a:r>
              <a:rPr sz="2600" b="0">
                <a:solidFill>
                  <a:srgbClr val="1B2A4A"/>
                </a:solidFill>
                <a:latin typeface="Segoe UI"/>
              </a:rPr>
              <a:t>Matn o‘zgargach, mundarija ustida o‘ng tugma →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«Обновить поле» orqali yangilang.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3-REJA · SAHIFANI FORMATLASH: HOSHIYA, SAHIFA RAQAMI, KOLONTITUL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Baholash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8562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Ish quyidagi bandlar bo‘yicha baholanadi: shrift va abzats talablarga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mos (1 ball), sarlavhalarga uslub berilgan (1 ball), ro‘yxatlar to‘g‘ri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tuzilgan (1 ball), sahifa raqami qo‘yilgan (1 ball), avtomatik mundarija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yaratilgan (1 ball).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0E7C7B"/>
                </a:solidFill>
                <a:latin typeface="Segoe UI"/>
              </a:rPr>
              <a:t>11-MAVZU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Matnni qalin va kursiv qilish uchun qaysi tugmalar ishlatiladi?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Abzats va xatboshi nima?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Uslubdan foydalanishning qanday afzalliklari bor?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Sahifa raqami qanday qo‘yiladi?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Avtomatik mundarija qanday yaratiladi?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texnologiyalari · 11-mavzu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0E7C7B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11-mavzu. Matn va hujjatlarni tahrirlash hamda formatlash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